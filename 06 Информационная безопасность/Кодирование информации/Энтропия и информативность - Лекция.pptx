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91" r:id="rId14"/>
    <p:sldId id="292" r:id="rId15"/>
    <p:sldId id="293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285" r:id="rId40"/>
    <p:sldId id="286" r:id="rId41"/>
    <p:sldId id="287" r:id="rId42"/>
    <p:sldId id="288" r:id="rId43"/>
    <p:sldId id="289" r:id="rId44"/>
    <p:sldId id="290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86" d="100"/>
          <a:sy n="86" d="100"/>
        </p:scale>
        <p:origin x="33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10/13/2022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10/13/2022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Введение в теорию информации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2720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t="2116"/>
          <a:stretch/>
        </p:blipFill>
        <p:spPr>
          <a:xfrm>
            <a:off x="418850" y="186906"/>
            <a:ext cx="11267300" cy="174349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121" y="1930400"/>
            <a:ext cx="7315953" cy="4774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948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875" y="339766"/>
            <a:ext cx="7324052" cy="53966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60" y="1109622"/>
            <a:ext cx="10993749" cy="274512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5975" y="2971800"/>
            <a:ext cx="80200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783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60" y="255168"/>
            <a:ext cx="10410717" cy="609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85864"/>
            <a:ext cx="9068571" cy="123975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305" y="2160589"/>
            <a:ext cx="11699695" cy="199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891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47" y="384842"/>
            <a:ext cx="11496054" cy="462029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03" y="5229893"/>
            <a:ext cx="11652498" cy="64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28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45" y="274613"/>
            <a:ext cx="8821257" cy="133510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09722"/>
            <a:ext cx="11849004" cy="497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905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11609"/>
            <a:ext cx="10723956" cy="220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316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98" y="202531"/>
            <a:ext cx="9894413" cy="633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390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14" y="144629"/>
            <a:ext cx="11072915" cy="648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986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23682"/>
            <a:ext cx="10720074" cy="42322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00" y="4555957"/>
            <a:ext cx="10747342" cy="148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110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35" y="445251"/>
            <a:ext cx="10346122" cy="148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651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159685" cy="1320800"/>
          </a:xfrm>
        </p:spPr>
        <p:txBody>
          <a:bodyPr/>
          <a:lstStyle/>
          <a:p>
            <a:r>
              <a:rPr lang="ru-RU" dirty="0"/>
              <a:t>Аксиоматическое определение энтропии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1700" y="1270000"/>
            <a:ext cx="7470950" cy="526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278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433" y="283158"/>
            <a:ext cx="8290310" cy="211410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33" y="2397263"/>
            <a:ext cx="8473168" cy="2463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028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89" y="139516"/>
            <a:ext cx="7773358" cy="202107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74" y="2400484"/>
            <a:ext cx="8766188" cy="287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347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095" y="461837"/>
            <a:ext cx="11598024" cy="4864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8612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0"/>
            <a:ext cx="10525169" cy="672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687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014" y="283158"/>
            <a:ext cx="8370533" cy="49780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49" y="780965"/>
            <a:ext cx="11629715" cy="510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6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45" y="379411"/>
            <a:ext cx="11255358" cy="98333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520" y="1321596"/>
            <a:ext cx="7864296" cy="167798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33" y="2999582"/>
            <a:ext cx="11516870" cy="176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657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20463"/>
            <a:ext cx="8564757" cy="56707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343" y="834189"/>
            <a:ext cx="9105507" cy="67376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4" y="1930400"/>
            <a:ext cx="9519924" cy="334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608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18" y="379411"/>
            <a:ext cx="10682151" cy="220336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144" y="2812968"/>
            <a:ext cx="5813961" cy="129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316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31" y="224465"/>
            <a:ext cx="11579709" cy="532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062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9979" y="176998"/>
            <a:ext cx="8596668" cy="1320800"/>
          </a:xfrm>
        </p:spPr>
        <p:txBody>
          <a:bodyPr/>
          <a:lstStyle/>
          <a:p>
            <a:pPr algn="ctr"/>
            <a:r>
              <a:rPr lang="ru-RU" dirty="0"/>
              <a:t>Условная энтропия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t="8716"/>
          <a:stretch/>
        </p:blipFill>
        <p:spPr>
          <a:xfrm>
            <a:off x="417451" y="1357162"/>
            <a:ext cx="11354433" cy="5111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4193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44219"/>
          <a:stretch/>
        </p:blipFill>
        <p:spPr>
          <a:xfrm>
            <a:off x="268564" y="2861048"/>
            <a:ext cx="11923436" cy="353975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439" y="224130"/>
            <a:ext cx="3923710" cy="130279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8842" y="1141454"/>
            <a:ext cx="3837433" cy="157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1719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t="57645"/>
          <a:stretch/>
        </p:blipFill>
        <p:spPr>
          <a:xfrm>
            <a:off x="529891" y="368967"/>
            <a:ext cx="11386640" cy="25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5151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13" y="271024"/>
            <a:ext cx="10087978" cy="631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1580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55588"/>
            <a:ext cx="9717950" cy="583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9946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871" y="364456"/>
            <a:ext cx="11847484" cy="520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4886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26076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Взаимная энтропия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94955" y="1235677"/>
            <a:ext cx="9241023" cy="2281880"/>
          </a:xfrm>
        </p:spPr>
        <p:txBody>
          <a:bodyPr>
            <a:noAutofit/>
          </a:bodyPr>
          <a:lstStyle/>
          <a:p>
            <a:r>
              <a:rPr lang="ru-RU" sz="2000" dirty="0"/>
              <a:t>Взаимная энтропия или </a:t>
            </a:r>
            <a:r>
              <a:rPr lang="ru-RU" sz="2000" i="1" dirty="0"/>
              <a:t>энтропия объединения </a:t>
            </a:r>
            <a:r>
              <a:rPr lang="ru-RU" sz="2000" dirty="0"/>
              <a:t>предназначена для расчёта энтропии взаимосвязанных систем (энтропии совместного появления статистически зависимых сообщений) и обозначается </a:t>
            </a:r>
            <a:r>
              <a:rPr lang="ru-RU" sz="2000" i="1" dirty="0"/>
              <a:t>H</a:t>
            </a:r>
            <a:r>
              <a:rPr lang="ru-RU" sz="2000" dirty="0"/>
              <a:t>(</a:t>
            </a:r>
            <a:r>
              <a:rPr lang="ru-RU" sz="2000" i="1" dirty="0"/>
              <a:t>AB</a:t>
            </a:r>
            <a:r>
              <a:rPr lang="ru-RU" sz="2000" dirty="0"/>
              <a:t>), где </a:t>
            </a:r>
            <a:r>
              <a:rPr lang="ru-RU" sz="2000" i="1" dirty="0"/>
              <a:t>A </a:t>
            </a:r>
            <a:r>
              <a:rPr lang="ru-RU" sz="2000" dirty="0"/>
              <a:t>характеризует передатчик, а </a:t>
            </a:r>
            <a:r>
              <a:rPr lang="ru-RU" sz="2000" i="1" dirty="0"/>
              <a:t>B </a:t>
            </a:r>
            <a:r>
              <a:rPr lang="ru-RU" sz="2000" dirty="0"/>
              <a:t>— приёмник.</a:t>
            </a:r>
          </a:p>
          <a:p>
            <a:r>
              <a:rPr lang="ru-RU" sz="2000" dirty="0"/>
              <a:t>Взаимосвязь переданных и полученных сигналов описывается вероятностями совместных событий </a:t>
            </a:r>
            <a:r>
              <a:rPr lang="ru-RU" sz="2000" i="1" dirty="0"/>
              <a:t>p</a:t>
            </a:r>
            <a:r>
              <a:rPr lang="ru-RU" sz="2000" dirty="0"/>
              <a:t>(</a:t>
            </a:r>
            <a:r>
              <a:rPr lang="ru-RU" sz="2000" i="1" dirty="0" err="1"/>
              <a:t>a</a:t>
            </a:r>
            <a:r>
              <a:rPr lang="ru-RU" sz="2000" i="1" baseline="-25000" dirty="0" err="1"/>
              <a:t>i</a:t>
            </a:r>
            <a:r>
              <a:rPr lang="ru-RU" sz="2000" i="1" dirty="0" err="1"/>
              <a:t>b</a:t>
            </a:r>
            <a:r>
              <a:rPr lang="ru-RU" sz="2000" i="1" baseline="-25000" dirty="0" err="1"/>
              <a:t>j</a:t>
            </a:r>
            <a:r>
              <a:rPr lang="ru-RU" sz="2000" dirty="0"/>
              <a:t>), и для полного описания </a:t>
            </a:r>
          </a:p>
          <a:p>
            <a:r>
              <a:rPr lang="ru-RU" sz="2000" dirty="0"/>
              <a:t>характеристик канала требуется только одна матрица:</a:t>
            </a:r>
          </a:p>
          <a:p>
            <a:endParaRPr lang="ru-RU" sz="20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250698"/>
              </p:ext>
            </p:extLst>
          </p:nvPr>
        </p:nvGraphicFramePr>
        <p:xfrm>
          <a:off x="677688" y="4344559"/>
          <a:ext cx="8596314" cy="15400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32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2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27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27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27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666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p(a</a:t>
                      </a:r>
                      <a:r>
                        <a:rPr lang="ru-RU" sz="1200" baseline="-25000" dirty="0">
                          <a:effectLst/>
                        </a:rPr>
                        <a:t>1</a:t>
                      </a:r>
                      <a:r>
                        <a:rPr lang="ru-RU" sz="1200" dirty="0">
                          <a:effectLst/>
                        </a:rPr>
                        <a:t>b</a:t>
                      </a:r>
                      <a:r>
                        <a:rPr lang="ru-RU" sz="1200" baseline="-25000" dirty="0">
                          <a:effectLst/>
                        </a:rPr>
                        <a:t>1</a:t>
                      </a:r>
                      <a:r>
                        <a:rPr lang="ru-RU" sz="1200" dirty="0">
                          <a:effectLst/>
                        </a:rPr>
                        <a:t>)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p(a</a:t>
                      </a:r>
                      <a:r>
                        <a:rPr lang="ru-RU" sz="1200" baseline="-25000">
                          <a:effectLst/>
                        </a:rPr>
                        <a:t>1</a:t>
                      </a:r>
                      <a:r>
                        <a:rPr lang="ru-RU" sz="1200">
                          <a:effectLst/>
                        </a:rPr>
                        <a:t>b</a:t>
                      </a:r>
                      <a:r>
                        <a:rPr lang="ru-RU" sz="1200" baseline="-25000">
                          <a:effectLst/>
                        </a:rPr>
                        <a:t>2</a:t>
                      </a:r>
                      <a:r>
                        <a:rPr lang="ru-RU" sz="1200">
                          <a:effectLst/>
                        </a:rPr>
                        <a:t>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…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p(a</a:t>
                      </a:r>
                      <a:r>
                        <a:rPr lang="ru-RU" sz="1200" baseline="-25000">
                          <a:effectLst/>
                        </a:rPr>
                        <a:t>1</a:t>
                      </a:r>
                      <a:r>
                        <a:rPr lang="ru-RU" sz="1200">
                          <a:effectLst/>
                        </a:rPr>
                        <a:t>b</a:t>
                      </a:r>
                      <a:r>
                        <a:rPr lang="ru-RU" sz="1200" baseline="-25000">
                          <a:effectLst/>
                        </a:rPr>
                        <a:t>j</a:t>
                      </a:r>
                      <a:r>
                        <a:rPr lang="ru-RU" sz="1200">
                          <a:effectLst/>
                        </a:rPr>
                        <a:t>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…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p(a</a:t>
                      </a:r>
                      <a:r>
                        <a:rPr lang="ru-RU" sz="1200" baseline="-25000">
                          <a:effectLst/>
                        </a:rPr>
                        <a:t>1</a:t>
                      </a:r>
                      <a:r>
                        <a:rPr lang="ru-RU" sz="1200">
                          <a:effectLst/>
                        </a:rPr>
                        <a:t>b</a:t>
                      </a:r>
                      <a:r>
                        <a:rPr lang="ru-RU" sz="1200" baseline="-25000">
                          <a:effectLst/>
                        </a:rPr>
                        <a:t>m</a:t>
                      </a:r>
                      <a:r>
                        <a:rPr lang="ru-RU" sz="1200">
                          <a:effectLst/>
                        </a:rPr>
                        <a:t>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66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p(a</a:t>
                      </a:r>
                      <a:r>
                        <a:rPr lang="ru-RU" sz="1200" baseline="-25000">
                          <a:effectLst/>
                        </a:rPr>
                        <a:t>2</a:t>
                      </a:r>
                      <a:r>
                        <a:rPr lang="ru-RU" sz="1200">
                          <a:effectLst/>
                        </a:rPr>
                        <a:t>b</a:t>
                      </a:r>
                      <a:r>
                        <a:rPr lang="ru-RU" sz="1200" baseline="-25000">
                          <a:effectLst/>
                        </a:rPr>
                        <a:t>1</a:t>
                      </a:r>
                      <a:r>
                        <a:rPr lang="ru-RU" sz="1200">
                          <a:effectLst/>
                        </a:rPr>
                        <a:t>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p(a</a:t>
                      </a:r>
                      <a:r>
                        <a:rPr lang="ru-RU" sz="1200" baseline="-25000">
                          <a:effectLst/>
                        </a:rPr>
                        <a:t>2</a:t>
                      </a:r>
                      <a:r>
                        <a:rPr lang="ru-RU" sz="1200">
                          <a:effectLst/>
                        </a:rPr>
                        <a:t>b</a:t>
                      </a:r>
                      <a:r>
                        <a:rPr lang="ru-RU" sz="1200" baseline="-25000">
                          <a:effectLst/>
                        </a:rPr>
                        <a:t>2</a:t>
                      </a:r>
                      <a:r>
                        <a:rPr lang="ru-RU" sz="1200">
                          <a:effectLst/>
                        </a:rPr>
                        <a:t>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…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p(a</a:t>
                      </a:r>
                      <a:r>
                        <a:rPr lang="ru-RU" sz="1200" baseline="-25000">
                          <a:effectLst/>
                        </a:rPr>
                        <a:t>2</a:t>
                      </a:r>
                      <a:r>
                        <a:rPr lang="ru-RU" sz="1200">
                          <a:effectLst/>
                        </a:rPr>
                        <a:t>b</a:t>
                      </a:r>
                      <a:r>
                        <a:rPr lang="ru-RU" sz="1200" baseline="-25000">
                          <a:effectLst/>
                        </a:rPr>
                        <a:t>j</a:t>
                      </a:r>
                      <a:r>
                        <a:rPr lang="ru-RU" sz="1200">
                          <a:effectLst/>
                        </a:rPr>
                        <a:t>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…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p(a</a:t>
                      </a:r>
                      <a:r>
                        <a:rPr lang="ru-RU" sz="1200" baseline="-25000">
                          <a:effectLst/>
                        </a:rPr>
                        <a:t>2</a:t>
                      </a:r>
                      <a:r>
                        <a:rPr lang="ru-RU" sz="1200">
                          <a:effectLst/>
                        </a:rPr>
                        <a:t>b</a:t>
                      </a:r>
                      <a:r>
                        <a:rPr lang="ru-RU" sz="1200" baseline="-25000">
                          <a:effectLst/>
                        </a:rPr>
                        <a:t>m</a:t>
                      </a:r>
                      <a:r>
                        <a:rPr lang="ru-RU" sz="1200">
                          <a:effectLst/>
                        </a:rPr>
                        <a:t>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66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…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…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…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…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…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…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66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p(a</a:t>
                      </a:r>
                      <a:r>
                        <a:rPr lang="ru-RU" sz="1200" baseline="-25000">
                          <a:effectLst/>
                        </a:rPr>
                        <a:t>i</a:t>
                      </a:r>
                      <a:r>
                        <a:rPr lang="ru-RU" sz="1200">
                          <a:effectLst/>
                        </a:rPr>
                        <a:t>b</a:t>
                      </a:r>
                      <a:r>
                        <a:rPr lang="ru-RU" sz="1200" baseline="-25000">
                          <a:effectLst/>
                        </a:rPr>
                        <a:t>1</a:t>
                      </a:r>
                      <a:r>
                        <a:rPr lang="ru-RU" sz="1200">
                          <a:effectLst/>
                        </a:rPr>
                        <a:t>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p(a</a:t>
                      </a:r>
                      <a:r>
                        <a:rPr lang="ru-RU" sz="1200" baseline="-25000">
                          <a:effectLst/>
                        </a:rPr>
                        <a:t>i</a:t>
                      </a:r>
                      <a:r>
                        <a:rPr lang="ru-RU" sz="1200">
                          <a:effectLst/>
                        </a:rPr>
                        <a:t>b</a:t>
                      </a:r>
                      <a:r>
                        <a:rPr lang="ru-RU" sz="1200" baseline="-25000">
                          <a:effectLst/>
                        </a:rPr>
                        <a:t>2</a:t>
                      </a:r>
                      <a:r>
                        <a:rPr lang="ru-RU" sz="1200">
                          <a:effectLst/>
                        </a:rPr>
                        <a:t>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…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p(a</a:t>
                      </a:r>
                      <a:r>
                        <a:rPr lang="ru-RU" sz="1200" baseline="-25000">
                          <a:effectLst/>
                        </a:rPr>
                        <a:t>i</a:t>
                      </a:r>
                      <a:r>
                        <a:rPr lang="ru-RU" sz="1200">
                          <a:effectLst/>
                        </a:rPr>
                        <a:t>b</a:t>
                      </a:r>
                      <a:r>
                        <a:rPr lang="ru-RU" sz="1200" baseline="-25000">
                          <a:effectLst/>
                        </a:rPr>
                        <a:t>j</a:t>
                      </a:r>
                      <a:r>
                        <a:rPr lang="ru-RU" sz="1200">
                          <a:effectLst/>
                        </a:rPr>
                        <a:t>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…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p(a</a:t>
                      </a:r>
                      <a:r>
                        <a:rPr lang="ru-RU" sz="1200" baseline="-25000">
                          <a:effectLst/>
                        </a:rPr>
                        <a:t>i</a:t>
                      </a:r>
                      <a:r>
                        <a:rPr lang="ru-RU" sz="1200">
                          <a:effectLst/>
                        </a:rPr>
                        <a:t>b</a:t>
                      </a:r>
                      <a:r>
                        <a:rPr lang="ru-RU" sz="1200" baseline="-25000">
                          <a:effectLst/>
                        </a:rPr>
                        <a:t>m</a:t>
                      </a:r>
                      <a:r>
                        <a:rPr lang="ru-RU" sz="1200">
                          <a:effectLst/>
                        </a:rPr>
                        <a:t>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66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…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…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…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…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…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…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667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p(a</a:t>
                      </a:r>
                      <a:r>
                        <a:rPr lang="ru-RU" sz="1200" baseline="-25000">
                          <a:effectLst/>
                        </a:rPr>
                        <a:t>m</a:t>
                      </a:r>
                      <a:r>
                        <a:rPr lang="ru-RU" sz="1200">
                          <a:effectLst/>
                        </a:rPr>
                        <a:t>b</a:t>
                      </a:r>
                      <a:r>
                        <a:rPr lang="ru-RU" sz="1200" baseline="-25000">
                          <a:effectLst/>
                        </a:rPr>
                        <a:t>1</a:t>
                      </a:r>
                      <a:r>
                        <a:rPr lang="ru-RU" sz="1200">
                          <a:effectLst/>
                        </a:rPr>
                        <a:t>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p(a</a:t>
                      </a:r>
                      <a:r>
                        <a:rPr lang="ru-RU" sz="1200" baseline="-25000">
                          <a:effectLst/>
                        </a:rPr>
                        <a:t>m</a:t>
                      </a:r>
                      <a:r>
                        <a:rPr lang="ru-RU" sz="1200">
                          <a:effectLst/>
                        </a:rPr>
                        <a:t>b</a:t>
                      </a:r>
                      <a:r>
                        <a:rPr lang="ru-RU" sz="1200" baseline="-25000">
                          <a:effectLst/>
                        </a:rPr>
                        <a:t>2</a:t>
                      </a:r>
                      <a:r>
                        <a:rPr lang="ru-RU" sz="1200">
                          <a:effectLst/>
                        </a:rPr>
                        <a:t>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…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p(a</a:t>
                      </a:r>
                      <a:r>
                        <a:rPr lang="ru-RU" sz="1200" baseline="-25000">
                          <a:effectLst/>
                        </a:rPr>
                        <a:t>m</a:t>
                      </a:r>
                      <a:r>
                        <a:rPr lang="ru-RU" sz="1200">
                          <a:effectLst/>
                        </a:rPr>
                        <a:t>b</a:t>
                      </a:r>
                      <a:r>
                        <a:rPr lang="ru-RU" sz="1200" baseline="-25000">
                          <a:effectLst/>
                        </a:rPr>
                        <a:t>j</a:t>
                      </a:r>
                      <a:r>
                        <a:rPr lang="ru-RU" sz="1200">
                          <a:effectLst/>
                        </a:rPr>
                        <a:t>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…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p(</a:t>
                      </a:r>
                      <a:r>
                        <a:rPr lang="ru-RU" sz="1200" dirty="0" err="1">
                          <a:effectLst/>
                        </a:rPr>
                        <a:t>a</a:t>
                      </a:r>
                      <a:r>
                        <a:rPr lang="ru-RU" sz="1200" baseline="-25000" dirty="0" err="1">
                          <a:effectLst/>
                        </a:rPr>
                        <a:t>m</a:t>
                      </a:r>
                      <a:r>
                        <a:rPr lang="ru-RU" sz="1200" dirty="0" err="1">
                          <a:effectLst/>
                        </a:rPr>
                        <a:t>b</a:t>
                      </a:r>
                      <a:r>
                        <a:rPr lang="ru-RU" sz="1200" baseline="-25000" dirty="0" err="1">
                          <a:effectLst/>
                        </a:rPr>
                        <a:t>m</a:t>
                      </a:r>
                      <a:r>
                        <a:rPr lang="ru-RU" sz="1200" dirty="0">
                          <a:effectLst/>
                        </a:rPr>
                        <a:t>)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0480" marR="30480" marT="30480" marB="3048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84078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255373"/>
            <a:ext cx="8596668" cy="5785989"/>
          </a:xfrm>
        </p:spPr>
        <p:txBody>
          <a:bodyPr/>
          <a:lstStyle/>
          <a:p>
            <a:pPr lvl="1" algn="just"/>
            <a:r>
              <a:rPr lang="ru-RU" dirty="0"/>
              <a:t>Для более общего случая, когда описывается не канал, а в целом взаимодействующие системы, матрица необязательно должна быть квадратной. Очевидно, сумма всех элементов столбца с номером </a:t>
            </a:r>
            <a:r>
              <a:rPr lang="ru-RU" i="1" dirty="0"/>
              <a:t>j</a:t>
            </a:r>
            <a:r>
              <a:rPr lang="ru-RU" dirty="0"/>
              <a:t> даёт </a:t>
            </a:r>
            <a:r>
              <a:rPr lang="ru-RU" i="1" dirty="0"/>
              <a:t>p</a:t>
            </a:r>
            <a:r>
              <a:rPr lang="ru-RU" dirty="0"/>
              <a:t>(</a:t>
            </a:r>
            <a:r>
              <a:rPr lang="ru-RU" i="1" dirty="0" err="1"/>
              <a:t>b</a:t>
            </a:r>
            <a:r>
              <a:rPr lang="ru-RU" i="1" baseline="-25000" dirty="0" err="1"/>
              <a:t>j</a:t>
            </a:r>
            <a:r>
              <a:rPr lang="ru-RU" dirty="0"/>
              <a:t>), сумма строки с номером </a:t>
            </a:r>
            <a:r>
              <a:rPr lang="ru-RU" i="1" dirty="0"/>
              <a:t>i</a:t>
            </a:r>
            <a:r>
              <a:rPr lang="ru-RU" dirty="0"/>
              <a:t> есть </a:t>
            </a:r>
            <a:r>
              <a:rPr lang="ru-RU" i="1" dirty="0"/>
              <a:t>p</a:t>
            </a:r>
            <a:r>
              <a:rPr lang="ru-RU" dirty="0"/>
              <a:t>(</a:t>
            </a:r>
            <a:r>
              <a:rPr lang="ru-RU" i="1" dirty="0" err="1"/>
              <a:t>a</a:t>
            </a:r>
            <a:r>
              <a:rPr lang="ru-RU" i="1" baseline="-25000" dirty="0" err="1"/>
              <a:t>i</a:t>
            </a:r>
            <a:r>
              <a:rPr lang="ru-RU" dirty="0"/>
              <a:t>), а сумма всех элементов матрицы равна 1. Совместная вероятность </a:t>
            </a:r>
            <a:r>
              <a:rPr lang="ru-RU" i="1" dirty="0"/>
              <a:t>p</a:t>
            </a:r>
            <a:r>
              <a:rPr lang="ru-RU" dirty="0"/>
              <a:t>(</a:t>
            </a:r>
            <a:r>
              <a:rPr lang="ru-RU" i="1" dirty="0" err="1"/>
              <a:t>a</a:t>
            </a:r>
            <a:r>
              <a:rPr lang="ru-RU" i="1" baseline="-25000" dirty="0" err="1"/>
              <a:t>i</a:t>
            </a:r>
            <a:r>
              <a:rPr lang="ru-RU" i="1" dirty="0" err="1"/>
              <a:t>b</a:t>
            </a:r>
            <a:r>
              <a:rPr lang="ru-RU" i="1" baseline="-25000" dirty="0" err="1"/>
              <a:t>j</a:t>
            </a:r>
            <a:r>
              <a:rPr lang="ru-RU" dirty="0"/>
              <a:t>) событий </a:t>
            </a:r>
            <a:r>
              <a:rPr lang="ru-RU" i="1" dirty="0" err="1"/>
              <a:t>a</a:t>
            </a:r>
            <a:r>
              <a:rPr lang="ru-RU" i="1" baseline="-25000" dirty="0" err="1"/>
              <a:t>i</a:t>
            </a:r>
            <a:r>
              <a:rPr lang="ru-RU" dirty="0"/>
              <a:t> и </a:t>
            </a:r>
            <a:r>
              <a:rPr lang="ru-RU" i="1" dirty="0" err="1"/>
              <a:t>b</a:t>
            </a:r>
            <a:r>
              <a:rPr lang="ru-RU" i="1" baseline="-25000" dirty="0" err="1"/>
              <a:t>j</a:t>
            </a:r>
            <a:r>
              <a:rPr lang="ru-RU" dirty="0"/>
              <a:t> вычисляется как произведение исходной и условной вероятности:</a:t>
            </a:r>
          </a:p>
          <a:p>
            <a:pPr lvl="1" algn="just"/>
            <a:endParaRPr lang="ru-RU" dirty="0"/>
          </a:p>
          <a:p>
            <a:pPr lvl="1" algn="just"/>
            <a:r>
              <a:rPr lang="ru-RU" dirty="0"/>
              <a:t>Условные вероятности производятся по </a:t>
            </a:r>
            <a:r>
              <a:rPr lang="ru-RU" dirty="0">
                <a:solidFill>
                  <a:schemeClr val="accent1"/>
                </a:solidFill>
              </a:rPr>
              <a:t>формуле Байеса</a:t>
            </a:r>
            <a:r>
              <a:rPr lang="ru-RU" dirty="0"/>
              <a:t>. Таким образом, имеются все данные для вычисления энтропий источника и приёмника:</a:t>
            </a:r>
          </a:p>
          <a:p>
            <a:pPr lvl="1" algn="just"/>
            <a:endParaRPr lang="ru-RU" dirty="0"/>
          </a:p>
          <a:p>
            <a:pPr lvl="1" algn="just"/>
            <a:endParaRPr lang="ru-RU" dirty="0"/>
          </a:p>
          <a:p>
            <a:endParaRPr lang="ru-RU" dirty="0"/>
          </a:p>
        </p:txBody>
      </p:sp>
      <p:pic>
        <p:nvPicPr>
          <p:cNvPr id="14" name="Рисунок 13" descr="p(a_ib_j)=p(a_i)p(b_j\mid a_i)=p(b_j)p(a_i\mid b_j).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655" y="1899686"/>
            <a:ext cx="32480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14" descr="H(A)=-\sum_i\left(\sum_j p(a_i b_j)\log\sum_j p(a_i b_j)\right),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1037" y="2960070"/>
            <a:ext cx="300037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Рисунок 15" descr="H(B)=-\sum_j\left(\sum_i p(a_i b_j)\log\sum_i p(a_i b_j)\right).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1036" y="3558286"/>
            <a:ext cx="2908643" cy="56132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Прямоугольник 9"/>
          <p:cNvSpPr/>
          <p:nvPr/>
        </p:nvSpPr>
        <p:spPr>
          <a:xfrm>
            <a:off x="1055571" y="4248037"/>
            <a:ext cx="8685196" cy="6850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Взаимная энтропия вычисляется последовательным суммированием по строкам (или по столбцам) всех вероятностей матрицы, умноженных на их логарифм: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406906"/>
              </p:ext>
            </p:extLst>
          </p:nvPr>
        </p:nvGraphicFramePr>
        <p:xfrm>
          <a:off x="3201455" y="5196778"/>
          <a:ext cx="4681637" cy="844583"/>
        </p:xfrm>
        <a:graphic>
          <a:graphicData uri="http://schemas.openxmlformats.org/drawingml/2006/table">
            <a:tbl>
              <a:tblPr firstRow="1" firstCol="1" bandRow="1"/>
              <a:tblGrid>
                <a:gridCol w="879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14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363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1200" i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AB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 = −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∑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∑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12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ru-RU" sz="1200" i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ru-RU" sz="12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ru-RU" sz="1200" i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)log</a:t>
                      </a:r>
                      <a:r>
                        <a:rPr lang="ru-RU" sz="12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ru-RU" sz="12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ru-RU" sz="1200" i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ru-RU" sz="12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ru-RU" sz="1200" i="1" baseline="-25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</a:t>
                      </a: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).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45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i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169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651310" y="206736"/>
            <a:ext cx="8203932" cy="981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Единица измерения — бит/два символа, это объясняется тем, что взаимная энтропия описывает неопределённость на пару символов: отправленного и полученного. Путём несложных преобразований также получаем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 descr="H(AB)=H(A)+H(B\mid A)=H(B)+H(A\mid B).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019" y="1456724"/>
            <a:ext cx="34861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Прямоугольник 4"/>
          <p:cNvSpPr/>
          <p:nvPr/>
        </p:nvSpPr>
        <p:spPr>
          <a:xfrm>
            <a:off x="651310" y="2118833"/>
            <a:ext cx="9089456" cy="36486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Взаимная энтропия обладает свойством </a:t>
            </a: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информационной полноты-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из неё можно получить все рассматриваемые величины.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Если ансамбли Х и Y относятся соответственно к передаваемому и принимаемому сообщениям. Различия между Х и Y обуславливаются искажениями в процессе передачи сообщений под воздействием помех. При отсутствии помех различий между ансамблями Х и Y не будет, а энтропии передаваемого и принимаемого сообщений будут равны: Н(Х) = Н(Y).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Если ансамбли Х и Y независимы, то это означает, что помехи в канале привели к полному искажению сообщения, т.е. Н</a:t>
            </a:r>
            <a:r>
              <a:rPr lang="ru-RU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(X) = Н(Х), а получаемое потребителем количество информации на один элемент сообщения: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(Х,Y)=0.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Если Х и Y полностью зависимы, т.е. помехи в канале отсутствуют, то Н</a:t>
            </a:r>
            <a:r>
              <a:rPr lang="ru-RU" baseline="-25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(X) = 0 и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(Х,Y) = H(Y).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5217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ИЗБЫТОЧНОСТЬ СООБЩЕНИЙ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491917"/>
            <a:ext cx="8596668" cy="4549446"/>
          </a:xfrm>
        </p:spPr>
        <p:txBody>
          <a:bodyPr/>
          <a:lstStyle/>
          <a:p>
            <a:r>
              <a:rPr lang="ru-RU" dirty="0"/>
              <a:t>Чем больше энтропия, тем большее количество информации содержит в среднем каждый элемент сообщения.</a:t>
            </a:r>
          </a:p>
          <a:p>
            <a:r>
              <a:rPr lang="ru-RU" dirty="0"/>
              <a:t>Пусть энтропии двух источников сообщений Н1&lt;Н2, а количество информации, получаемое от них одинаковое, т.е. I = n</a:t>
            </a:r>
            <a:r>
              <a:rPr lang="ru-RU" baseline="-25000" dirty="0"/>
              <a:t>1</a:t>
            </a:r>
            <a:r>
              <a:rPr lang="ru-RU" dirty="0"/>
              <a:t>H</a:t>
            </a:r>
            <a:r>
              <a:rPr lang="ru-RU" baseline="-25000" dirty="0"/>
              <a:t>1</a:t>
            </a:r>
            <a:r>
              <a:rPr lang="ru-RU" dirty="0"/>
              <a:t> = n</a:t>
            </a:r>
            <a:r>
              <a:rPr lang="ru-RU" baseline="-25000" dirty="0"/>
              <a:t>2</a:t>
            </a:r>
            <a:r>
              <a:rPr lang="ru-RU" dirty="0"/>
              <a:t>H</a:t>
            </a:r>
            <a:r>
              <a:rPr lang="ru-RU" baseline="-25000" dirty="0"/>
              <a:t>2</a:t>
            </a:r>
            <a:r>
              <a:rPr lang="ru-RU" dirty="0"/>
              <a:t>, где n</a:t>
            </a:r>
            <a:r>
              <a:rPr lang="ru-RU" baseline="-25000" dirty="0"/>
              <a:t>1</a:t>
            </a:r>
            <a:r>
              <a:rPr lang="ru-RU" dirty="0"/>
              <a:t> и n</a:t>
            </a:r>
            <a:r>
              <a:rPr lang="ru-RU" baseline="-25000" dirty="0"/>
              <a:t>2</a:t>
            </a:r>
            <a:r>
              <a:rPr lang="ru-RU" dirty="0"/>
              <a:t> - длина сообщения от первого и второго источников. </a:t>
            </a:r>
          </a:p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493669" y="3143250"/>
            <a:ext cx="1463341" cy="74535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501691" y="3244334"/>
            <a:ext cx="1334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Обозначим 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35805" y="4267284"/>
            <a:ext cx="8646695" cy="1870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передаче одинакового количества информации сообщение тем длиннее, чем меньше его энтропия.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Величина μ, называемая коэффициентом сжатия, характеризует степень укорочения сообщения при переходе к кодированию состояний элементов, характеризующихся большей энтропией.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 этом доля излишних элементов оценивается коэффициентом избыточности: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7717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/>
          <p:nvPr/>
        </p:nvPicPr>
        <p:blipFill>
          <a:blip r:embed="rId2"/>
          <a:stretch>
            <a:fillRect/>
          </a:stretch>
        </p:blipFill>
        <p:spPr>
          <a:xfrm>
            <a:off x="3311441" y="790324"/>
            <a:ext cx="2608096" cy="922973"/>
          </a:xfrm>
          <a:prstGeom prst="rect">
            <a:avLst/>
          </a:prstGeom>
        </p:spPr>
      </p:pic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1326431" y="1943486"/>
            <a:ext cx="6450782" cy="21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5730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727575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КЛАССИФИКАЦИЯ КОДОВ СЖАТИЯ. ОЦЕНКА ЭФФЕКТИВНОСТИ СЖАТИЯ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713297"/>
            <a:ext cx="8596668" cy="4328065"/>
          </a:xfrm>
        </p:spPr>
        <p:txBody>
          <a:bodyPr/>
          <a:lstStyle/>
          <a:p>
            <a:r>
              <a:rPr lang="ru-RU" dirty="0"/>
              <a:t>Рассмотрим фрагмент схемы канала связи, в котором информация, сгенерированная источником сообщений, приводится к виду, удобному для передачи по каналу </a:t>
            </a:r>
          </a:p>
          <a:p>
            <a:endParaRPr lang="ru-RU" dirty="0"/>
          </a:p>
        </p:txBody>
      </p:sp>
      <p:pic>
        <p:nvPicPr>
          <p:cNvPr id="14" name="Рисунок 13"/>
          <p:cNvPicPr/>
          <p:nvPr/>
        </p:nvPicPr>
        <p:blipFill>
          <a:blip r:embed="rId2"/>
          <a:stretch>
            <a:fillRect/>
          </a:stretch>
        </p:blipFill>
        <p:spPr>
          <a:xfrm>
            <a:off x="3357395" y="2575700"/>
            <a:ext cx="4073308" cy="10637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677333" y="3877329"/>
                <a:ext cx="9917229" cy="19261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indent="450215" algn="just">
                  <a:lnSpc>
                    <a:spcPts val="1315"/>
                  </a:lnSpc>
                  <a:spcAft>
                    <a:spcPts val="0"/>
                  </a:spcAft>
                </a:pPr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Данные, поступившие на вход кодера канала, обычно кодируются символами другого алфавита, причем таким образом, чтобы минимизировать затраты на передачу этих данных. А именно, данные представляются в максимально компактном виде. Эта процедура называется </a:t>
                </a:r>
                <a:r>
                  <a:rPr lang="ru-RU" i="1" spc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" panose="02040503050406030204" pitchFamily="18" charset="0"/>
                    <a:cs typeface="Cambria" panose="02040503050406030204" pitchFamily="18" charset="0"/>
                  </a:rPr>
                  <a:t>кодированием источника сообщений. </a:t>
                </a:r>
                <a:r>
                  <a:rPr lang="ru-RU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Устройство, осуществляющее такое кодирование называется </a:t>
                </a:r>
                <a:r>
                  <a:rPr lang="ru-RU" i="1" spc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" panose="02040503050406030204" pitchFamily="18" charset="0"/>
                    <a:cs typeface="Cambria" panose="02040503050406030204" pitchFamily="18" charset="0"/>
                  </a:rPr>
                  <a:t>кодером источника,</a:t>
                </a:r>
                <a:r>
                  <a:rPr lang="ru-RU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а устройство, совершающее обратную операцию - </a:t>
                </a:r>
                <a:r>
                  <a:rPr lang="ru-RU" i="1" spc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" panose="02040503050406030204" pitchFamily="18" charset="0"/>
                    <a:cs typeface="Cambria" panose="02040503050406030204" pitchFamily="18" charset="0"/>
                  </a:rPr>
                  <a:t>декодером источника.</a:t>
                </a:r>
                <a:endParaRPr lang="ru-RU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indent="450215" algn="just">
                  <a:lnSpc>
                    <a:spcPts val="1315"/>
                  </a:lnSpc>
                  <a:spcAft>
                    <a:spcPts val="0"/>
                  </a:spcAft>
                </a:pPr>
                <a:r>
                  <a:rPr lang="ru-RU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Рассмотрим задачу кодирования источника без памяти. Пусть заданы два произвольных конечных множества, которые называются, соответственно, </a:t>
                </a:r>
                <a:r>
                  <a:rPr lang="ru-RU" i="1" spc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" panose="02040503050406030204" pitchFamily="18" charset="0"/>
                    <a:cs typeface="Cambria" panose="02040503050406030204" pitchFamily="18" charset="0"/>
                  </a:rPr>
                  <a:t>кодируемым (входным) алфавитом </a:t>
                </a:r>
                <a14:m>
                  <m:oMath xmlns:m="http://schemas.openxmlformats.org/officeDocument/2006/math">
                    <m:r>
                      <a:rPr lang="ru-RU" i="0" spc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А={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0" spc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а</m:t>
                        </m:r>
                      </m:e>
                      <m:sub>
                        <m:r>
                          <a:rPr lang="ru-RU" i="0" spc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i="0" spc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0" spc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а</m:t>
                        </m:r>
                      </m:e>
                      <m:sub>
                        <m:r>
                          <a:rPr lang="ru-RU" i="0" spc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i="0" spc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,..,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0" spc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а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spc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b>
                    </m:sSub>
                    <m:r>
                      <a:rPr lang="ru-RU" i="0" spc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ru-RU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и </a:t>
                </a:r>
                <a:r>
                  <a:rPr lang="ru-RU" i="1" spc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" panose="02040503050406030204" pitchFamily="18" charset="0"/>
                    <a:cs typeface="Cambria" panose="02040503050406030204" pitchFamily="18" charset="0"/>
                  </a:rPr>
                  <a:t>кодирующим</a:t>
                </a:r>
                <a:r>
                  <a:rPr lang="ru-RU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(</a:t>
                </a:r>
                <a:r>
                  <a:rPr lang="ru-RU" i="1" spc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" panose="02040503050406030204" pitchFamily="18" charset="0"/>
                    <a:cs typeface="Cambria" panose="02040503050406030204" pitchFamily="18" charset="0"/>
                  </a:rPr>
                  <a:t>выходным</a:t>
                </a:r>
                <a:r>
                  <a:rPr lang="ru-RU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) </a:t>
                </a:r>
                <a:r>
                  <a:rPr lang="ru-RU" i="1" spc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" panose="02040503050406030204" pitchFamily="18" charset="0"/>
                    <a:cs typeface="Cambria" panose="02040503050406030204" pitchFamily="18" charset="0"/>
                  </a:rPr>
                  <a:t>алфавитом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i="0" spc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ru-RU" i="1" spc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i="0" spc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  <m:sub>
                        <m:r>
                          <a:rPr lang="ru-RU" i="1" spc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ru-RU" i="1" spc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i="0" spc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  <m:sub>
                        <m:r>
                          <a:rPr lang="ru-RU" i="1" spc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ru-RU" i="0" spc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,..,</m:t>
                    </m:r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i="0" spc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i="0" spc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</m:sub>
                    </m:sSub>
                    <m:r>
                      <a:rPr lang="ru-RU" i="1" spc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ru-RU" i="1" spc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" panose="02040503050406030204" pitchFamily="18" charset="0"/>
                    <a:cs typeface="Cambria" panose="02040503050406030204" pitchFamily="18" charset="0"/>
                  </a:rPr>
                  <a:t>.</a:t>
                </a:r>
                <a:r>
                  <a:rPr lang="ru-RU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Элементы алфавитов, как и ранее, будем называть символами, а последовательности символов - словами. </a:t>
                </a:r>
                <a:r>
                  <a:rPr lang="ru-RU" i="1" spc="0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mbria" panose="02040503050406030204" pitchFamily="18" charset="0"/>
                    <a:cs typeface="Cambria" panose="02040503050406030204" pitchFamily="18" charset="0"/>
                  </a:rPr>
                  <a:t>Длина слова</a:t>
                </a:r>
                <a:r>
                  <a:rPr lang="ru-RU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- это число символов, из которого оно состоит. В качестве кодирующего алфавита часто рассматривается бинарный алфавит.</a:t>
                </a:r>
                <a:endParaRPr lang="ru-RU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33" y="3877329"/>
                <a:ext cx="9917229" cy="1926168"/>
              </a:xfrm>
              <a:prstGeom prst="rect">
                <a:avLst/>
              </a:prstGeom>
              <a:blipFill rotWithShape="0">
                <a:blip r:embed="rId3"/>
                <a:stretch>
                  <a:fillRect l="-492" t="-6646" r="-553" b="-47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607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3952" y="529835"/>
            <a:ext cx="1903399" cy="36249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19460" y="633280"/>
            <a:ext cx="4946932" cy="2590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ts val="1315"/>
              </a:lnSpc>
              <a:spcAft>
                <a:spcPts val="0"/>
              </a:spcAft>
            </a:pP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Кодированием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будем называть отображение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530568" y="1271155"/>
            <a:ext cx="4873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где</a:t>
            </a:r>
            <a:endParaRPr lang="ru-RU" dirty="0"/>
          </a:p>
        </p:txBody>
      </p:sp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2658578" y="1336441"/>
            <a:ext cx="868680" cy="2387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Прямоугольник 7"/>
              <p:cNvSpPr/>
              <p:nvPr/>
            </p:nvSpPr>
            <p:spPr>
              <a:xfrm>
                <a:off x="805312" y="2019317"/>
                <a:ext cx="9195335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Calibri" panose="020F0502020204030204" pitchFamily="34" charset="0"/>
                  </a:rPr>
                  <a:t>кодовое слово, составленное из символов выходного алфавита и соответствующее символу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а</m:t>
                        </m:r>
                      </m:e>
                      <m:sub>
                        <m:r>
                          <a:rPr lang="ru-RU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входного алфавита. При этом естественно предполагать, что рассмотренное изображение является изоморфным.</a:t>
                </a:r>
                <a:endParaRPr lang="ru-RU" dirty="0"/>
              </a:p>
            </p:txBody>
          </p:sp>
        </mc:Choice>
        <mc:Fallback xmlns="">
          <p:sp>
            <p:nvSpPr>
              <p:cNvPr id="8" name="Прямоугольник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12" y="2019317"/>
                <a:ext cx="9195335" cy="923330"/>
              </a:xfrm>
              <a:prstGeom prst="rect">
                <a:avLst/>
              </a:prstGeom>
              <a:blipFill rotWithShape="0">
                <a:blip r:embed="rId4"/>
                <a:stretch>
                  <a:fillRect l="-530" t="-3289" r="-663" b="-9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Прямоугольник 8"/>
          <p:cNvSpPr/>
          <p:nvPr/>
        </p:nvSpPr>
        <p:spPr>
          <a:xfrm>
            <a:off x="1053424" y="3136811"/>
            <a:ext cx="3501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Совокупность всех кодовых слов </a:t>
            </a:r>
            <a:endParaRPr lang="ru-RU" dirty="0"/>
          </a:p>
        </p:txBody>
      </p:sp>
      <p:pic>
        <p:nvPicPr>
          <p:cNvPr id="10" name="Рисунок 9"/>
          <p:cNvPicPr/>
          <p:nvPr/>
        </p:nvPicPr>
        <p:blipFill>
          <a:blip r:embed="rId3"/>
          <a:stretch>
            <a:fillRect/>
          </a:stretch>
        </p:blipFill>
        <p:spPr>
          <a:xfrm>
            <a:off x="4689508" y="3202097"/>
            <a:ext cx="868680" cy="238760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1212921" y="3914358"/>
            <a:ext cx="77674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будем называть </a:t>
            </a:r>
            <a:r>
              <a:rPr lang="ru-RU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кодом.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Очевидно, что мощность кода совпадает с мощностью алфавита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66497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125128"/>
            <a:ext cx="8596668" cy="1805272"/>
          </a:xfrm>
        </p:spPr>
        <p:txBody>
          <a:bodyPr/>
          <a:lstStyle/>
          <a:p>
            <a:pPr algn="ctr"/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Свойства кодов сжатия</a:t>
            </a:r>
            <a:b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06503" y="890543"/>
            <a:ext cx="9731141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/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Код, у которого все элементы множества кодовых слов имеют одинаковую длину, называется </a:t>
            </a:r>
            <a:r>
              <a:rPr lang="ru-RU" sz="20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кодом фиксированной длины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или равномерным кодом. Если длины кодовых слов различны, то такой код называется </a:t>
            </a:r>
            <a:r>
              <a:rPr lang="ru-RU" sz="20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кодом переменной длины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(неравномерный код).</a:t>
            </a:r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20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Префиксным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называется код, у которого никакое кодовое слово не является префиксом (началом) другого кодового слова. Коды, удовлетворяющие этому условию, называются кодами свободными от префикса или префиксными кодами.</a:t>
            </a:r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/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Коды, обладающие </a:t>
            </a:r>
            <a:r>
              <a:rPr lang="ru-RU" sz="20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свойством единственности декодирования,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позволяют однозначно отображать сжатые данные в исходные. Отметим, что </a:t>
            </a:r>
            <a:r>
              <a:rPr lang="ru-RU" sz="20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префиксность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кода является достаточным, но не необходимым, условием того, что код единственным образом декодируемый.</a:t>
            </a:r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69900" algn="just"/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Считается, что код, для которого граница настоящего кодового слова может быть определена концом настоящего кодового слова, а не началом следующего кодового слова, обладает свойством </a:t>
            </a:r>
            <a:r>
              <a:rPr lang="ru-RU" sz="20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мгновенной </a:t>
            </a:r>
            <a:r>
              <a:rPr lang="ru-RU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декодируемости</a:t>
            </a:r>
            <a:r>
              <a:rPr lang="ru-RU" sz="20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.</a:t>
            </a:r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69900" algn="just"/>
            <a:r>
              <a:rPr lang="ru-RU" sz="20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Существует несколько способов оценить эффективность сжатия. В основе всех этих способов лежит использование сравнения объема данных до сжатия и после него. Далее будем пользовать­ся следующими определениями.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7262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Средняя длина кода вычисляется как сумма длин двоичных кодов, взвешенных вероятностью этих кодовых символов: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06930" y="703928"/>
            <a:ext cx="6096000" cy="425758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0215" algn="just">
              <a:lnSpc>
                <a:spcPts val="1315"/>
              </a:lnSpc>
              <a:spcAft>
                <a:spcPts val="0"/>
              </a:spcAft>
            </a:pP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Коэффициент сжатия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определяется по формуле:</a:t>
            </a:r>
            <a:endParaRPr lang="ru-RU" sz="1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ts val="1315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3017851" y="1224014"/>
            <a:ext cx="3921964" cy="91577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506930" y="2177899"/>
            <a:ext cx="8767072" cy="259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ts val="1315"/>
              </a:lnSpc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Величина, обратная коэффициенту сжатия называется </a:t>
            </a:r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фактором сжатия</a:t>
            </a:r>
            <a:endParaRPr lang="ru-RU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2800200" y="2851945"/>
            <a:ext cx="4620879" cy="770272"/>
          </a:xfrm>
          <a:prstGeom prst="rect">
            <a:avLst/>
          </a:prstGeom>
        </p:spPr>
      </p:pic>
      <p:pic>
        <p:nvPicPr>
          <p:cNvPr id="8" name="Рисунок 7"/>
          <p:cNvPicPr/>
          <p:nvPr/>
        </p:nvPicPr>
        <p:blipFill>
          <a:blip r:embed="rId4"/>
          <a:stretch>
            <a:fillRect/>
          </a:stretch>
        </p:blipFill>
        <p:spPr>
          <a:xfrm>
            <a:off x="4337810" y="4842309"/>
            <a:ext cx="1275715" cy="42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3028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61829" y="80211"/>
            <a:ext cx="9477319" cy="1320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КОДИРОВАНИЕ ДЛЯ ДИСКРЕТНЫХ ИСТОЧНИКОВ БЕЗ ПАМЯТИ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77334" y="1401011"/>
            <a:ext cx="8596668" cy="4640351"/>
          </a:xfrm>
        </p:spPr>
        <p:txBody>
          <a:bodyPr/>
          <a:lstStyle/>
          <a:p>
            <a:r>
              <a:rPr lang="ru-RU" dirty="0"/>
              <a:t>Каждому событию, содержащемуся в рассматриваемом алфавите может быть приписана некоторая последовательность двоичных символов, т.е. кодовое слово. Такой процесс называется </a:t>
            </a:r>
            <a:r>
              <a:rPr lang="ru-RU" b="1" dirty="0"/>
              <a:t>кодированием источника</a:t>
            </a:r>
            <a:r>
              <a:rPr lang="ru-RU" dirty="0"/>
              <a:t>, а совокупность кодовых слов - </a:t>
            </a:r>
            <a:r>
              <a:rPr lang="ru-RU" b="1" dirty="0"/>
              <a:t>кодом источника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5318" y="2880361"/>
            <a:ext cx="56007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5" name="Прямоугольник 4"/>
          <p:cNvSpPr/>
          <p:nvPr/>
        </p:nvSpPr>
        <p:spPr>
          <a:xfrm>
            <a:off x="2175318" y="5098668"/>
            <a:ext cx="6096000" cy="94269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50215" algn="just">
              <a:lnSpc>
                <a:spcPct val="107000"/>
              </a:lnSpc>
              <a:spcAft>
                <a:spcPts val="0"/>
              </a:spcAft>
            </a:pPr>
            <a:r>
              <a:rPr lang="ru-RU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Кодовое дерево</a:t>
            </a:r>
            <a:endParaRPr lang="ru-RU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Если мы пройдем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N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уровней, то получим 2</a:t>
            </a:r>
            <a:r>
              <a:rPr lang="en-US" baseline="30000" dirty="0">
                <a:latin typeface="Times New Roman" panose="02020603050405020304" pitchFamily="18" charset="0"/>
                <a:ea typeface="Calibri" panose="020F0502020204030204" pitchFamily="34" charset="0"/>
              </a:rPr>
              <a:t>N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узлов, которые соответствуют кодовым словам длины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35064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957" y="128253"/>
            <a:ext cx="9070274" cy="131553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1443789"/>
            <a:ext cx="11346700" cy="212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2817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56" y="269457"/>
            <a:ext cx="11810708" cy="427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8060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41" y="257426"/>
            <a:ext cx="11599911" cy="349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8596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" y="234866"/>
            <a:ext cx="11916440" cy="355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1844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87" y="282575"/>
            <a:ext cx="11360175" cy="469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9112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93" y="79376"/>
            <a:ext cx="11664755" cy="596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738566"/>
      </p:ext>
    </p:extLst>
  </p:cSld>
  <p:clrMapOvr>
    <a:masterClrMapping/>
  </p:clrMapOvr>
</p:sld>
</file>

<file path=ppt/theme/theme1.xml><?xml version="1.0" encoding="utf-8"?>
<a:theme xmlns:a="http://schemas.openxmlformats.org/drawingml/2006/main" name="Грань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119</TotalTime>
  <Words>1078</Words>
  <Application>Microsoft Office PowerPoint</Application>
  <PresentationFormat>Широкоэкранный</PresentationFormat>
  <Paragraphs>96</Paragraphs>
  <Slides>44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1" baseType="lpstr">
      <vt:lpstr>Arial</vt:lpstr>
      <vt:lpstr>Calibri</vt:lpstr>
      <vt:lpstr>Cambria Math</vt:lpstr>
      <vt:lpstr>Times New Roman</vt:lpstr>
      <vt:lpstr>Trebuchet MS</vt:lpstr>
      <vt:lpstr>Wingdings 3</vt:lpstr>
      <vt:lpstr>Грань</vt:lpstr>
      <vt:lpstr>Введение в теорию информации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Аксиоматическое определение энтропии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Условная энтропия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Взаимная энтропия </vt:lpstr>
      <vt:lpstr>Презентация PowerPoint</vt:lpstr>
      <vt:lpstr>Презентация PowerPoint</vt:lpstr>
      <vt:lpstr>ИЗБЫТОЧНОСТЬ СООБЩЕНИЙ </vt:lpstr>
      <vt:lpstr>Презентация PowerPoint</vt:lpstr>
      <vt:lpstr>КЛАССИФИКАЦИЯ КОДОВ СЖАТИЯ. ОЦЕНКА ЭФФЕКТИВНОСТИ СЖАТИЯ </vt:lpstr>
      <vt:lpstr>Презентация PowerPoint</vt:lpstr>
      <vt:lpstr>Свойства кодов сжатия </vt:lpstr>
      <vt:lpstr>Презентация PowerPoint</vt:lpstr>
      <vt:lpstr>КОДИРОВАНИЕ ДЛЯ ДИСКРЕТНЫХ ИСТОЧНИКОВ БЕЗ ПАМЯТИ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теорию информации</dc:title>
  <dc:creator>Oliko</dc:creator>
  <cp:lastModifiedBy>Андрей Пришутов</cp:lastModifiedBy>
  <cp:revision>22</cp:revision>
  <dcterms:created xsi:type="dcterms:W3CDTF">2021-02-24T07:47:21Z</dcterms:created>
  <dcterms:modified xsi:type="dcterms:W3CDTF">2022-10-13T08:31:20Z</dcterms:modified>
</cp:coreProperties>
</file>